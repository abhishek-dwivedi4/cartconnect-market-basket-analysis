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12192000"/>
  <p:embeddedFontLst>
    <p:embeddedFont>
      <p:font typeface="Bahnschrift SemiBold" panose="020B0502040204020203" pitchFamily="34" charset="0"/>
      <p:bold r:id="rId13"/>
    </p:embeddedFont>
    <p:embeddedFont>
      <p:font typeface="Inter" panose="020B060402020202020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19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049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8F0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54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F2740"/>
                </a:solidFill>
                <a:latin typeface="Inter" pitchFamily="34" charset="0"/>
                <a:ea typeface="Inter" pitchFamily="34" charset="-122"/>
                <a:cs typeface="Inte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7381"/>
            <a:ext cx="10566400" cy="4147819"/>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8F0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54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0F2740"/>
                </a:solidFill>
                <a:latin typeface="Inter" pitchFamily="34" charset="0"/>
                <a:ea typeface="Inter" pitchFamily="34" charset="-122"/>
                <a:cs typeface="Inte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7381"/>
            <a:ext cx="10566400" cy="4147819"/>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audio1.wav"/><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audio" Target="../media/audio4.wav"/><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audio" Target="../media/audio5.wav"/><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audio" Target="../media/audio4.wav"/><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audio" Target="../media/audio6.wav"/><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audio" Target="../media/audio7.wav"/><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audio" Target="../media/audio8.wav"/><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7.png"/><Relationship Id="rId4" Type="http://schemas.openxmlformats.org/officeDocument/2006/relationships/audio" Target="../media/audio9.wav"/></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740"/>
              </a:gs>
              <a:gs pos="60000">
                <a:srgbClr val="14396A"/>
              </a:gs>
              <a:gs pos="100000">
                <a:srgbClr val="0B6A66"/>
              </a:gs>
            </a:gsLst>
            <a:lin ang="2700000" scaled="0"/>
          </a:gradFill>
          <a:ln/>
        </p:spPr>
      </p:sp>
      <p:pic>
        <p:nvPicPr>
          <p:cNvPr id="3" name="Image 0" descr="ellipse"/>
          <p:cNvPicPr>
            <a:picLocks noChangeAspect="1"/>
          </p:cNvPicPr>
          <p:nvPr/>
        </p:nvPicPr>
        <p:blipFill>
          <a:blip r:embed="rId4"/>
          <a:srcRect/>
          <a:stretch/>
        </p:blipFill>
        <p:spPr>
          <a:xfrm>
            <a:off x="7620000" y="508000"/>
            <a:ext cx="4572000" cy="4572000"/>
          </a:xfrm>
          <a:prstGeom prst="rect">
            <a:avLst/>
          </a:prstGeom>
        </p:spPr>
      </p:pic>
      <p:pic>
        <p:nvPicPr>
          <p:cNvPr id="4" name="Image 1" descr="ellipse"/>
          <p:cNvPicPr>
            <a:picLocks noChangeAspect="1"/>
          </p:cNvPicPr>
          <p:nvPr/>
        </p:nvPicPr>
        <p:blipFill>
          <a:blip r:embed="rId5"/>
          <a:srcRect/>
          <a:stretch/>
        </p:blipFill>
        <p:spPr>
          <a:xfrm>
            <a:off x="9398000" y="3556000"/>
            <a:ext cx="2794000" cy="2794000"/>
          </a:xfrm>
          <a:prstGeom prst="rect">
            <a:avLst/>
          </a:prstGeom>
        </p:spPr>
      </p:pic>
      <p:pic>
        <p:nvPicPr>
          <p:cNvPr id="5" name="Image 2" descr="ellipse"/>
          <p:cNvPicPr>
            <a:picLocks noChangeAspect="1"/>
          </p:cNvPicPr>
          <p:nvPr/>
        </p:nvPicPr>
        <p:blipFill>
          <a:blip r:embed="rId6"/>
          <a:srcRect/>
          <a:stretch/>
        </p:blipFill>
        <p:spPr>
          <a:xfrm>
            <a:off x="9906000" y="889000"/>
            <a:ext cx="1270000" cy="1270000"/>
          </a:xfrm>
          <a:prstGeom prst="rect">
            <a:avLst/>
          </a:prstGeom>
        </p:spPr>
      </p:pic>
      <p:sp>
        <p:nvSpPr>
          <p:cNvPr id="6" name="Shape 1"/>
          <p:cNvSpPr/>
          <p:nvPr/>
        </p:nvSpPr>
        <p:spPr>
          <a:xfrm>
            <a:off x="0" y="6769100"/>
            <a:ext cx="12192000" cy="88900"/>
          </a:xfrm>
          <a:prstGeom prst="rect">
            <a:avLst/>
          </a:prstGeom>
          <a:gradFill rotWithShape="1">
            <a:gsLst>
              <a:gs pos="0">
                <a:srgbClr val="1E4FA3"/>
              </a:gs>
              <a:gs pos="100000">
                <a:srgbClr val="5FD4C9"/>
              </a:gs>
            </a:gsLst>
            <a:lin ang="0" scaled="0"/>
          </a:gradFill>
          <a:ln/>
        </p:spPr>
      </p:sp>
      <p:pic>
        <p:nvPicPr>
          <p:cNvPr id="7" name="Image 3" descr="Grocery shelf with milk, bread, apple, cereal, can, juice, orange, carrot, tomato and lettuce"/>
          <p:cNvPicPr>
            <a:picLocks noChangeAspect="1"/>
          </p:cNvPicPr>
          <p:nvPr/>
        </p:nvPicPr>
        <p:blipFill>
          <a:blip r:embed="rId7"/>
          <a:srcRect t="-22" b="-22"/>
          <a:stretch/>
        </p:blipFill>
        <p:spPr>
          <a:xfrm>
            <a:off x="1168400" y="254000"/>
            <a:ext cx="10210800" cy="1651000"/>
          </a:xfrm>
          <a:prstGeom prst="rect">
            <a:avLst/>
          </a:prstGeom>
        </p:spPr>
      </p:pic>
      <p:pic>
        <p:nvPicPr>
          <p:cNvPr id="8" name="Image 4" descr="Grocery cart, apple and milk icons"/>
          <p:cNvPicPr>
            <a:picLocks noChangeAspect="1"/>
          </p:cNvPicPr>
          <p:nvPr/>
        </p:nvPicPr>
        <p:blipFill>
          <a:blip r:embed="rId8"/>
          <a:srcRect/>
          <a:stretch/>
        </p:blipFill>
        <p:spPr>
          <a:xfrm>
            <a:off x="7874000" y="4826000"/>
            <a:ext cx="3556000" cy="1397000"/>
          </a:xfrm>
          <a:prstGeom prst="rect">
            <a:avLst/>
          </a:prstGeom>
        </p:spPr>
      </p:pic>
      <p:sp>
        <p:nvSpPr>
          <p:cNvPr id="9" name="Shape 2"/>
          <p:cNvSpPr/>
          <p:nvPr/>
        </p:nvSpPr>
        <p:spPr>
          <a:xfrm>
            <a:off x="0" y="0"/>
            <a:ext cx="203200" cy="6858000"/>
          </a:xfrm>
          <a:prstGeom prst="rect">
            <a:avLst/>
          </a:prstGeom>
          <a:solidFill>
            <a:srgbClr val="5FD4C9"/>
          </a:solidFill>
          <a:ln/>
        </p:spPr>
      </p:sp>
      <p:sp>
        <p:nvSpPr>
          <p:cNvPr id="10" name="Text 3"/>
          <p:cNvSpPr/>
          <p:nvPr/>
        </p:nvSpPr>
        <p:spPr>
          <a:xfrm>
            <a:off x="1168400" y="5110480"/>
            <a:ext cx="7848600" cy="136652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DBE7FB"/>
                </a:solidFill>
                <a:latin typeface="Inter" pitchFamily="34" charset="0"/>
                <a:ea typeface="Inter" pitchFamily="34" charset="-122"/>
                <a:cs typeface="Inter" pitchFamily="34" charset="-120"/>
              </a:rPr>
              <a:t>Presented by Abhishek Dwivedi</a:t>
            </a:r>
            <a:endParaRPr lang="en-US" sz="3200" dirty="0"/>
          </a:p>
          <a:p>
            <a:pPr marL="0" indent="0" algn="l">
              <a:lnSpc>
                <a:spcPts val="3520"/>
              </a:lnSpc>
              <a:buNone/>
            </a:pPr>
            <a:r>
              <a:rPr lang="en-US" sz="3200" dirty="0">
                <a:solidFill>
                  <a:srgbClr val="DBE7FB"/>
                </a:solidFill>
                <a:latin typeface="Inter" pitchFamily="34" charset="0"/>
                <a:ea typeface="Inter" pitchFamily="34" charset="-122"/>
                <a:cs typeface="Inter" pitchFamily="34" charset="-120"/>
              </a:rPr>
              <a:t>Batch BCADS31</a:t>
            </a:r>
            <a:endParaRPr lang="en-US" sz="3200" dirty="0"/>
          </a:p>
          <a:p>
            <a:pPr marL="0" indent="0" algn="l">
              <a:lnSpc>
                <a:spcPts val="3520"/>
              </a:lnSpc>
              <a:buNone/>
            </a:pPr>
            <a:r>
              <a:rPr lang="en-US" sz="3200" dirty="0">
                <a:solidFill>
                  <a:srgbClr val="DBE7FB"/>
                </a:solidFill>
                <a:latin typeface="Inter" pitchFamily="34" charset="0"/>
                <a:ea typeface="Inter" pitchFamily="34" charset="-122"/>
                <a:cs typeface="Inter" pitchFamily="34" charset="-120"/>
              </a:rPr>
              <a:t>Roll No 1240258017</a:t>
            </a:r>
            <a:endParaRPr lang="en-US" sz="3200" dirty="0"/>
          </a:p>
        </p:txBody>
      </p:sp>
      <p:sp>
        <p:nvSpPr>
          <p:cNvPr id="11" name="Text 4"/>
          <p:cNvSpPr/>
          <p:nvPr/>
        </p:nvSpPr>
        <p:spPr>
          <a:xfrm>
            <a:off x="1168400" y="2266950"/>
            <a:ext cx="1051712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7FE0D6"/>
                </a:solidFill>
                <a:latin typeface="Inter" pitchFamily="34" charset="0"/>
                <a:ea typeface="Inter" pitchFamily="34" charset="-122"/>
                <a:cs typeface="Inter" pitchFamily="34" charset="-120"/>
              </a:rPr>
              <a:t>IBM SPSS MODELER · ASSOCIATION RULES</a:t>
            </a:r>
            <a:endParaRPr lang="en-US" sz="1300" dirty="0"/>
          </a:p>
        </p:txBody>
      </p:sp>
      <p:sp>
        <p:nvSpPr>
          <p:cNvPr id="12" name="Text 5"/>
          <p:cNvSpPr>
            <a:spLocks noGrp="1"/>
          </p:cNvSpPr>
          <p:nvPr>
            <p:ph type="title"/>
          </p:nvPr>
        </p:nvSpPr>
        <p:spPr>
          <a:xfrm>
            <a:off x="1168400" y="2679700"/>
            <a:ext cx="10517124"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4F7FB"/>
                </a:solidFill>
                <a:latin typeface="Inter" pitchFamily="34" charset="0"/>
                <a:ea typeface="Inter" pitchFamily="34" charset="-122"/>
                <a:cs typeface="Inter" pitchFamily="34" charset="-120"/>
              </a:rPr>
              <a:t>CartConnect: Market Basket Analysis</a:t>
            </a:r>
            <a:endParaRPr lang="en-US" sz="4800" dirty="0"/>
          </a:p>
        </p:txBody>
      </p:sp>
      <p:sp>
        <p:nvSpPr>
          <p:cNvPr id="13" name="Text 6"/>
          <p:cNvSpPr/>
          <p:nvPr/>
        </p:nvSpPr>
        <p:spPr>
          <a:xfrm>
            <a:off x="1168400" y="4434840"/>
            <a:ext cx="10517124"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C9D8EA"/>
                </a:solidFill>
                <a:latin typeface="Inter" pitchFamily="34" charset="0"/>
                <a:ea typeface="Inter" pitchFamily="34" charset="-122"/>
                <a:cs typeface="Inter" pitchFamily="34" charset="-120"/>
              </a:rPr>
              <a:t>Utilizing the Apriori Algorithm in IBM SPSS Modeler</a:t>
            </a:r>
            <a:endParaRPr lang="en-US" sz="22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sndAc>
          <p:stSnd>
            <p:snd r:embed="rId3" name="applause.wav"/>
          </p:stSnd>
        </p:sndAc>
      </p:transition>
    </mc:Choice>
    <mc:Fallback>
      <p:transition spd="slow">
        <p:fade/>
        <p:sndAc>
          <p:stSnd>
            <p:snd r:embed="rId3" name="applause.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Dairy theme: milk, cheese, eggs and yogurt"/>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1E4FA3"/>
              </a:gs>
              <a:gs pos="100000">
                <a:srgbClr val="7FB0F0"/>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PROJECT OVERVIEW</a:t>
            </a:r>
            <a:endParaRPr lang="en-US" sz="1300" dirty="0"/>
          </a:p>
        </p:txBody>
      </p:sp>
      <p:sp>
        <p:nvSpPr>
          <p:cNvPr id="9" name="Text 3"/>
          <p:cNvSpPr>
            <a:spLocks noGrp="1"/>
          </p:cNvSpPr>
          <p:nvPr>
            <p:ph type="title"/>
          </p:nvPr>
        </p:nvSpPr>
        <p:spPr>
          <a:xfrm>
            <a:off x="812800" y="114554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Objectives &amp; Dataset</a:t>
            </a:r>
            <a:endParaRPr lang="en-US" sz="3200" dirty="0"/>
          </a:p>
        </p:txBody>
      </p:sp>
      <p:sp>
        <p:nvSpPr>
          <p:cNvPr id="10" name="Shape 4"/>
          <p:cNvSpPr/>
          <p:nvPr/>
        </p:nvSpPr>
        <p:spPr>
          <a:xfrm>
            <a:off x="812800" y="2413000"/>
            <a:ext cx="5130800" cy="1855611"/>
          </a:xfrm>
          <a:prstGeom prst="roundRect">
            <a:avLst>
              <a:gd name="adj" fmla="val 5475"/>
            </a:avLst>
          </a:prstGeom>
          <a:solidFill>
            <a:srgbClr val="FFFFFF"/>
          </a:solidFill>
          <a:ln/>
        </p:spPr>
      </p:sp>
      <p:sp>
        <p:nvSpPr>
          <p:cNvPr id="11" name="Shape 5"/>
          <p:cNvSpPr/>
          <p:nvPr/>
        </p:nvSpPr>
        <p:spPr>
          <a:xfrm>
            <a:off x="812800" y="2413000"/>
            <a:ext cx="5130800" cy="1855611"/>
          </a:xfrm>
          <a:custGeom>
            <a:avLst/>
            <a:gdLst/>
            <a:ahLst/>
            <a:cxnLst/>
            <a:rect l="l" t="t" r="r" b="b"/>
            <a:pathLst>
              <a:path w="5130800" h="1855611">
                <a:moveTo>
                  <a:pt x="0" y="101600"/>
                </a:moveTo>
                <a:lnTo>
                  <a:pt x="0" y="101600"/>
                </a:lnTo>
                <a:arcTo wR="101600" hR="101600" stAng="10800000" swAng="5400000"/>
                <a:lnTo>
                  <a:pt x="5029200" y="0"/>
                </a:lnTo>
                <a:arcTo wR="101600" hR="101600" stAng="16200000" swAng="5400000"/>
                <a:lnTo>
                  <a:pt x="5130800" y="101600"/>
                </a:lnTo>
                <a:arcTo wR="101600" hR="50800" stAng="0" swAng="-5400000"/>
                <a:lnTo>
                  <a:pt x="101600" y="50800"/>
                </a:lnTo>
                <a:arcTo wR="101600" hR="50800" stAng="16200000" swAng="-5400000"/>
                <a:close/>
              </a:path>
            </a:pathLst>
          </a:custGeom>
          <a:solidFill>
            <a:srgbClr val="0B7A75"/>
          </a:solidFill>
          <a:ln/>
        </p:spPr>
      </p:sp>
      <p:sp>
        <p:nvSpPr>
          <p:cNvPr id="12" name="Text 6"/>
          <p:cNvSpPr/>
          <p:nvPr/>
        </p:nvSpPr>
        <p:spPr>
          <a:xfrm>
            <a:off x="1066800" y="2716671"/>
            <a:ext cx="476148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Objective</a:t>
            </a:r>
            <a:endParaRPr lang="en-US" sz="1900" dirty="0"/>
          </a:p>
        </p:txBody>
      </p:sp>
      <p:sp>
        <p:nvSpPr>
          <p:cNvPr id="13" name="Text 7"/>
          <p:cNvSpPr/>
          <p:nvPr/>
        </p:nvSpPr>
        <p:spPr>
          <a:xfrm>
            <a:off x="1066800" y="3107831"/>
            <a:ext cx="4761484" cy="93218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4566A"/>
                </a:solidFill>
                <a:latin typeface="Inter" pitchFamily="34" charset="0"/>
                <a:ea typeface="Inter" pitchFamily="34" charset="-122"/>
                <a:cs typeface="Inter" pitchFamily="34" charset="-120"/>
              </a:rPr>
              <a:t>Uncover hidden associations and customer purchasing behaviors to see which products are bought together.</a:t>
            </a:r>
            <a:endParaRPr lang="en-US" sz="1700" dirty="0"/>
          </a:p>
        </p:txBody>
      </p:sp>
      <p:sp>
        <p:nvSpPr>
          <p:cNvPr id="14" name="Shape 8"/>
          <p:cNvSpPr/>
          <p:nvPr/>
        </p:nvSpPr>
        <p:spPr>
          <a:xfrm>
            <a:off x="6248400" y="2413000"/>
            <a:ext cx="5130800" cy="1553351"/>
          </a:xfrm>
          <a:prstGeom prst="roundRect">
            <a:avLst>
              <a:gd name="adj" fmla="val 6541"/>
            </a:avLst>
          </a:prstGeom>
          <a:solidFill>
            <a:srgbClr val="FFFFFF"/>
          </a:solidFill>
          <a:ln/>
        </p:spPr>
      </p:sp>
      <p:sp>
        <p:nvSpPr>
          <p:cNvPr id="15" name="Shape 9"/>
          <p:cNvSpPr/>
          <p:nvPr/>
        </p:nvSpPr>
        <p:spPr>
          <a:xfrm>
            <a:off x="6248400" y="2413000"/>
            <a:ext cx="5130800" cy="1553351"/>
          </a:xfrm>
          <a:custGeom>
            <a:avLst/>
            <a:gdLst/>
            <a:ahLst/>
            <a:cxnLst/>
            <a:rect l="l" t="t" r="r" b="b"/>
            <a:pathLst>
              <a:path w="5130800" h="1553351">
                <a:moveTo>
                  <a:pt x="0" y="101600"/>
                </a:moveTo>
                <a:lnTo>
                  <a:pt x="0" y="101600"/>
                </a:lnTo>
                <a:arcTo wR="101600" hR="101600" stAng="10800000" swAng="5400000"/>
                <a:lnTo>
                  <a:pt x="5029200" y="0"/>
                </a:lnTo>
                <a:arcTo wR="101600" hR="101600" stAng="16200000" swAng="5400000"/>
                <a:lnTo>
                  <a:pt x="5130800" y="101600"/>
                </a:lnTo>
                <a:arcTo wR="101600" hR="50800" stAng="0" swAng="-5400000"/>
                <a:lnTo>
                  <a:pt x="101600" y="50800"/>
                </a:lnTo>
                <a:arcTo wR="101600" hR="50800" stAng="16200000" swAng="-5400000"/>
                <a:close/>
              </a:path>
            </a:pathLst>
          </a:custGeom>
          <a:solidFill>
            <a:srgbClr val="0B7A75"/>
          </a:solidFill>
          <a:ln/>
        </p:spPr>
      </p:sp>
      <p:sp>
        <p:nvSpPr>
          <p:cNvPr id="16" name="Text 10"/>
          <p:cNvSpPr/>
          <p:nvPr/>
        </p:nvSpPr>
        <p:spPr>
          <a:xfrm>
            <a:off x="6502400" y="2716671"/>
            <a:ext cx="476148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Dataset</a:t>
            </a:r>
            <a:endParaRPr lang="en-US" sz="1900" dirty="0"/>
          </a:p>
        </p:txBody>
      </p:sp>
      <p:sp>
        <p:nvSpPr>
          <p:cNvPr id="17" name="Text 11"/>
          <p:cNvSpPr/>
          <p:nvPr/>
        </p:nvSpPr>
        <p:spPr>
          <a:xfrm>
            <a:off x="6502400" y="3107831"/>
            <a:ext cx="4761484"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4566A"/>
                </a:solidFill>
                <a:latin typeface="Inter" pitchFamily="34" charset="0"/>
                <a:ea typeface="Inter" pitchFamily="34" charset="-122"/>
                <a:cs typeface="Inter" pitchFamily="34" charset="-120"/>
              </a:rPr>
              <a:t>The analysis uses Groceries_dataset.csv, comprising over 38,000 transaction records.</a:t>
            </a:r>
            <a:endParaRPr lang="en-US" sz="17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sndAc>
          <p:stSnd>
            <p:snd r:embed="rId3" name="arrow.wav"/>
          </p:stSnd>
        </p:sndAc>
      </p:transition>
    </mc:Choice>
    <mc:Fallback>
      <p:transition spd="slow">
        <p:fade/>
        <p:sndAc>
          <p:stSnd>
            <p:snd r:embed="rId3" name="arrow.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Bakery theme: bread, baguette, buns, cake and croissant"/>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E8A045"/>
              </a:gs>
              <a:gs pos="100000">
                <a:srgbClr val="F6D55C"/>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STEP 1 · DATA IMPORT</a:t>
            </a:r>
            <a:endParaRPr lang="en-US" sz="1300" dirty="0"/>
          </a:p>
        </p:txBody>
      </p:sp>
      <p:sp>
        <p:nvSpPr>
          <p:cNvPr id="9" name="Text 3"/>
          <p:cNvSpPr>
            <a:spLocks noGrp="1"/>
          </p:cNvSpPr>
          <p:nvPr>
            <p:ph type="title"/>
          </p:nvPr>
        </p:nvSpPr>
        <p:spPr>
          <a:xfrm>
            <a:off x="812800" y="114554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Setting up the Source Node</a:t>
            </a:r>
            <a:endParaRPr lang="en-US" sz="3200" dirty="0"/>
          </a:p>
        </p:txBody>
      </p:sp>
      <p:sp>
        <p:nvSpPr>
          <p:cNvPr id="10" name="Shape 4"/>
          <p:cNvSpPr/>
          <p:nvPr/>
        </p:nvSpPr>
        <p:spPr>
          <a:xfrm>
            <a:off x="812800" y="2413000"/>
            <a:ext cx="3352800" cy="1482231"/>
          </a:xfrm>
          <a:prstGeom prst="roundRect">
            <a:avLst>
              <a:gd name="adj" fmla="val 6855"/>
            </a:avLst>
          </a:prstGeom>
          <a:solidFill>
            <a:srgbClr val="FFFFFF"/>
          </a:solidFill>
          <a:ln/>
        </p:spPr>
      </p:sp>
      <p:sp>
        <p:nvSpPr>
          <p:cNvPr id="11" name="Shape 5"/>
          <p:cNvSpPr/>
          <p:nvPr/>
        </p:nvSpPr>
        <p:spPr>
          <a:xfrm>
            <a:off x="812800" y="2413000"/>
            <a:ext cx="3352800" cy="1482231"/>
          </a:xfrm>
          <a:custGeom>
            <a:avLst/>
            <a:gdLst/>
            <a:ahLst/>
            <a:cxnLst/>
            <a:rect l="l" t="t" r="r" b="b"/>
            <a:pathLst>
              <a:path w="3352800" h="14822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2" name="Text 6"/>
          <p:cNvSpPr/>
          <p:nvPr/>
        </p:nvSpPr>
        <p:spPr>
          <a:xfrm>
            <a:off x="10668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Create a stream</a:t>
            </a:r>
            <a:endParaRPr lang="en-US" sz="1900" dirty="0"/>
          </a:p>
        </p:txBody>
      </p:sp>
      <p:sp>
        <p:nvSpPr>
          <p:cNvPr id="13" name="Text 7"/>
          <p:cNvSpPr/>
          <p:nvPr/>
        </p:nvSpPr>
        <p:spPr>
          <a:xfrm>
            <a:off x="1066800" y="3107832"/>
            <a:ext cx="293014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Start with a blank stream canvas in IBM SPSS Modeler.</a:t>
            </a:r>
            <a:endParaRPr lang="en-US" sz="1500" dirty="0"/>
          </a:p>
        </p:txBody>
      </p:sp>
      <p:sp>
        <p:nvSpPr>
          <p:cNvPr id="14" name="Shape 8"/>
          <p:cNvSpPr/>
          <p:nvPr/>
        </p:nvSpPr>
        <p:spPr>
          <a:xfrm>
            <a:off x="4419600" y="2413000"/>
            <a:ext cx="3352800" cy="1748931"/>
          </a:xfrm>
          <a:prstGeom prst="roundRect">
            <a:avLst>
              <a:gd name="adj" fmla="val 5809"/>
            </a:avLst>
          </a:prstGeom>
          <a:solidFill>
            <a:srgbClr val="FFFFFF"/>
          </a:solidFill>
          <a:ln/>
        </p:spPr>
      </p:sp>
      <p:sp>
        <p:nvSpPr>
          <p:cNvPr id="15" name="Shape 9"/>
          <p:cNvSpPr/>
          <p:nvPr/>
        </p:nvSpPr>
        <p:spPr>
          <a:xfrm>
            <a:off x="44196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6" name="Text 10"/>
          <p:cNvSpPr/>
          <p:nvPr/>
        </p:nvSpPr>
        <p:spPr>
          <a:xfrm>
            <a:off x="46736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Add the source node</a:t>
            </a:r>
            <a:endParaRPr lang="en-US" sz="1900" dirty="0"/>
          </a:p>
        </p:txBody>
      </p:sp>
      <p:sp>
        <p:nvSpPr>
          <p:cNvPr id="17" name="Text 11"/>
          <p:cNvSpPr/>
          <p:nvPr/>
        </p:nvSpPr>
        <p:spPr>
          <a:xfrm>
            <a:off x="46736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Drag the Var. File node from the Sources palette onto the canvas.</a:t>
            </a:r>
            <a:endParaRPr lang="en-US" sz="1500" dirty="0"/>
          </a:p>
        </p:txBody>
      </p:sp>
      <p:sp>
        <p:nvSpPr>
          <p:cNvPr id="18" name="Shape 12"/>
          <p:cNvSpPr/>
          <p:nvPr/>
        </p:nvSpPr>
        <p:spPr>
          <a:xfrm>
            <a:off x="8026400" y="2413000"/>
            <a:ext cx="3352800" cy="1748931"/>
          </a:xfrm>
          <a:prstGeom prst="roundRect">
            <a:avLst>
              <a:gd name="adj" fmla="val 5809"/>
            </a:avLst>
          </a:prstGeom>
          <a:solidFill>
            <a:srgbClr val="FFFFFF"/>
          </a:solidFill>
          <a:ln/>
        </p:spPr>
      </p:sp>
      <p:sp>
        <p:nvSpPr>
          <p:cNvPr id="19" name="Shape 13"/>
          <p:cNvSpPr/>
          <p:nvPr/>
        </p:nvSpPr>
        <p:spPr>
          <a:xfrm>
            <a:off x="80264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20" name="Text 14"/>
          <p:cNvSpPr/>
          <p:nvPr/>
        </p:nvSpPr>
        <p:spPr>
          <a:xfrm>
            <a:off x="82804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Load the dataset</a:t>
            </a:r>
            <a:endParaRPr lang="en-US" sz="1900" dirty="0"/>
          </a:p>
        </p:txBody>
      </p:sp>
      <p:sp>
        <p:nvSpPr>
          <p:cNvPr id="21" name="Text 15"/>
          <p:cNvSpPr/>
          <p:nvPr/>
        </p:nvSpPr>
        <p:spPr>
          <a:xfrm>
            <a:off x="82804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Open Groceries_dataset.csv and ensure Read field names from file is checked.</a:t>
            </a:r>
            <a:endParaRPr lang="en-US" sz="15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sndAc>
          <p:stSnd>
            <p:snd r:embed="rId3" name="wind.wav"/>
          </p:stSnd>
        </p:sndAc>
      </p:transition>
    </mc:Choice>
    <mc:Fallback>
      <p:transition spd="slow">
        <p:fade/>
        <p:sndAc>
          <p:stSnd>
            <p:snd r:embed="rId3" name="wind.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Fruits theme: apple, orange, banana, grapes and watermelon"/>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E5533D"/>
              </a:gs>
              <a:gs pos="100000">
                <a:srgbClr val="F08A24"/>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STEP 2 · ADDING THE TYPE NODE</a:t>
            </a:r>
            <a:endParaRPr lang="en-US" sz="1300" dirty="0"/>
          </a:p>
        </p:txBody>
      </p:sp>
      <p:sp>
        <p:nvSpPr>
          <p:cNvPr id="9" name="Text 3"/>
          <p:cNvSpPr>
            <a:spLocks noGrp="1"/>
          </p:cNvSpPr>
          <p:nvPr>
            <p:ph type="title"/>
          </p:nvPr>
        </p:nvSpPr>
        <p:spPr>
          <a:xfrm>
            <a:off x="812800" y="114554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Connecting the Type Node</a:t>
            </a:r>
            <a:endParaRPr lang="en-US" sz="3200" dirty="0"/>
          </a:p>
        </p:txBody>
      </p:sp>
      <p:sp>
        <p:nvSpPr>
          <p:cNvPr id="10" name="Text 4"/>
          <p:cNvSpPr/>
          <p:nvPr/>
        </p:nvSpPr>
        <p:spPr>
          <a:xfrm>
            <a:off x="812800" y="169418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66A"/>
                </a:solidFill>
                <a:latin typeface="Inter" pitchFamily="34" charset="0"/>
                <a:ea typeface="Inter" pitchFamily="34" charset="-122"/>
                <a:cs typeface="Inter" pitchFamily="34" charset="-120"/>
              </a:rPr>
              <a:t>The system must understand each column’s role before any analysis can run.</a:t>
            </a:r>
            <a:endParaRPr lang="en-US" sz="1600" dirty="0"/>
          </a:p>
        </p:txBody>
      </p:sp>
      <p:sp>
        <p:nvSpPr>
          <p:cNvPr id="11" name="Shape 5"/>
          <p:cNvSpPr/>
          <p:nvPr/>
        </p:nvSpPr>
        <p:spPr>
          <a:xfrm>
            <a:off x="812800" y="2413000"/>
            <a:ext cx="3352800" cy="1748931"/>
          </a:xfrm>
          <a:prstGeom prst="roundRect">
            <a:avLst>
              <a:gd name="adj" fmla="val 5809"/>
            </a:avLst>
          </a:prstGeom>
          <a:solidFill>
            <a:srgbClr val="FFFFFF"/>
          </a:solidFill>
          <a:ln/>
        </p:spPr>
      </p:sp>
      <p:sp>
        <p:nvSpPr>
          <p:cNvPr id="12" name="Shape 6"/>
          <p:cNvSpPr/>
          <p:nvPr/>
        </p:nvSpPr>
        <p:spPr>
          <a:xfrm>
            <a:off x="8128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3" name="Text 7"/>
          <p:cNvSpPr/>
          <p:nvPr/>
        </p:nvSpPr>
        <p:spPr>
          <a:xfrm>
            <a:off x="10668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Define roles</a:t>
            </a:r>
            <a:endParaRPr lang="en-US" sz="1900" dirty="0"/>
          </a:p>
        </p:txBody>
      </p:sp>
      <p:sp>
        <p:nvSpPr>
          <p:cNvPr id="14" name="Text 8"/>
          <p:cNvSpPr/>
          <p:nvPr/>
        </p:nvSpPr>
        <p:spPr>
          <a:xfrm>
            <a:off x="10668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Column roles must be understood by the system before analysis.</a:t>
            </a:r>
            <a:endParaRPr lang="en-US" sz="1500" dirty="0"/>
          </a:p>
        </p:txBody>
      </p:sp>
      <p:sp>
        <p:nvSpPr>
          <p:cNvPr id="15" name="Shape 9"/>
          <p:cNvSpPr/>
          <p:nvPr/>
        </p:nvSpPr>
        <p:spPr>
          <a:xfrm>
            <a:off x="4419600" y="2413000"/>
            <a:ext cx="3352800" cy="1748931"/>
          </a:xfrm>
          <a:prstGeom prst="roundRect">
            <a:avLst>
              <a:gd name="adj" fmla="val 5809"/>
            </a:avLst>
          </a:prstGeom>
          <a:solidFill>
            <a:srgbClr val="FFFFFF"/>
          </a:solidFill>
          <a:ln/>
        </p:spPr>
      </p:sp>
      <p:sp>
        <p:nvSpPr>
          <p:cNvPr id="16" name="Shape 10"/>
          <p:cNvSpPr/>
          <p:nvPr/>
        </p:nvSpPr>
        <p:spPr>
          <a:xfrm>
            <a:off x="44196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7" name="Text 11"/>
          <p:cNvSpPr/>
          <p:nvPr/>
        </p:nvSpPr>
        <p:spPr>
          <a:xfrm>
            <a:off x="46736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Add the node</a:t>
            </a:r>
            <a:endParaRPr lang="en-US" sz="1900" dirty="0"/>
          </a:p>
        </p:txBody>
      </p:sp>
      <p:sp>
        <p:nvSpPr>
          <p:cNvPr id="18" name="Text 12"/>
          <p:cNvSpPr/>
          <p:nvPr/>
        </p:nvSpPr>
        <p:spPr>
          <a:xfrm>
            <a:off x="46736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Drag the Type node from the Field Ops palette onto the canvas.</a:t>
            </a:r>
            <a:endParaRPr lang="en-US" sz="1500" dirty="0"/>
          </a:p>
        </p:txBody>
      </p:sp>
      <p:sp>
        <p:nvSpPr>
          <p:cNvPr id="19" name="Shape 13"/>
          <p:cNvSpPr/>
          <p:nvPr/>
        </p:nvSpPr>
        <p:spPr>
          <a:xfrm>
            <a:off x="8026400" y="2413000"/>
            <a:ext cx="3352800" cy="1482231"/>
          </a:xfrm>
          <a:prstGeom prst="roundRect">
            <a:avLst>
              <a:gd name="adj" fmla="val 6855"/>
            </a:avLst>
          </a:prstGeom>
          <a:solidFill>
            <a:srgbClr val="FFFFFF"/>
          </a:solidFill>
          <a:ln/>
        </p:spPr>
      </p:sp>
      <p:sp>
        <p:nvSpPr>
          <p:cNvPr id="20" name="Shape 14"/>
          <p:cNvSpPr/>
          <p:nvPr/>
        </p:nvSpPr>
        <p:spPr>
          <a:xfrm>
            <a:off x="8026400" y="2413000"/>
            <a:ext cx="3352800" cy="1482231"/>
          </a:xfrm>
          <a:custGeom>
            <a:avLst/>
            <a:gdLst/>
            <a:ahLst/>
            <a:cxnLst/>
            <a:rect l="l" t="t" r="r" b="b"/>
            <a:pathLst>
              <a:path w="3352800" h="14822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21" name="Text 15"/>
          <p:cNvSpPr/>
          <p:nvPr/>
        </p:nvSpPr>
        <p:spPr>
          <a:xfrm>
            <a:off x="82804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Connect</a:t>
            </a:r>
            <a:endParaRPr lang="en-US" sz="1900" dirty="0"/>
          </a:p>
        </p:txBody>
      </p:sp>
      <p:sp>
        <p:nvSpPr>
          <p:cNvPr id="22" name="Text 16"/>
          <p:cNvSpPr/>
          <p:nvPr/>
        </p:nvSpPr>
        <p:spPr>
          <a:xfrm>
            <a:off x="8280400" y="3107832"/>
            <a:ext cx="293014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Link the Var. File source node to the Type node.</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1250">
        <p14:flip dir="r"/>
        <p:sndAc>
          <p:stSnd>
            <p:snd r:embed="rId3" name="whoosh.wav"/>
          </p:stSnd>
        </p:sndAc>
      </p:transition>
    </mc:Choice>
    <mc:Fallback>
      <p:transition spd="slow">
        <p:fade/>
        <p:sndAc>
          <p:stSnd>
            <p:snd r:embed="rId3"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Vegetables theme: carrot, broccoli, tomato, eggplant, lettuce and pepper"/>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4FA85A"/>
              </a:gs>
              <a:gs pos="100000">
                <a:srgbClr val="8FD48F"/>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STEP 3 · DEFINING DATA ROLES</a:t>
            </a:r>
            <a:endParaRPr lang="en-US" sz="1300" dirty="0"/>
          </a:p>
        </p:txBody>
      </p:sp>
      <p:sp>
        <p:nvSpPr>
          <p:cNvPr id="9" name="Text 3"/>
          <p:cNvSpPr>
            <a:spLocks noGrp="1"/>
          </p:cNvSpPr>
          <p:nvPr>
            <p:ph type="title"/>
          </p:nvPr>
        </p:nvSpPr>
        <p:spPr>
          <a:xfrm>
            <a:off x="812800" y="1145539"/>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Filtering &amp; Targeting Fields</a:t>
            </a:r>
            <a:endParaRPr lang="en-US" sz="3200" dirty="0"/>
          </a:p>
        </p:txBody>
      </p:sp>
      <p:sp>
        <p:nvSpPr>
          <p:cNvPr id="10" name="Shape 4"/>
          <p:cNvSpPr/>
          <p:nvPr/>
        </p:nvSpPr>
        <p:spPr>
          <a:xfrm>
            <a:off x="812800" y="2413000"/>
            <a:ext cx="5130800" cy="1553351"/>
          </a:xfrm>
          <a:prstGeom prst="roundRect">
            <a:avLst>
              <a:gd name="adj" fmla="val 6541"/>
            </a:avLst>
          </a:prstGeom>
          <a:solidFill>
            <a:srgbClr val="FFFFFF"/>
          </a:solidFill>
          <a:ln/>
        </p:spPr>
      </p:sp>
      <p:sp>
        <p:nvSpPr>
          <p:cNvPr id="11" name="Shape 5"/>
          <p:cNvSpPr/>
          <p:nvPr/>
        </p:nvSpPr>
        <p:spPr>
          <a:xfrm>
            <a:off x="812800" y="2413000"/>
            <a:ext cx="5130800" cy="1553351"/>
          </a:xfrm>
          <a:custGeom>
            <a:avLst/>
            <a:gdLst/>
            <a:ahLst/>
            <a:cxnLst/>
            <a:rect l="l" t="t" r="r" b="b"/>
            <a:pathLst>
              <a:path w="5130800" h="1553351">
                <a:moveTo>
                  <a:pt x="0" y="101600"/>
                </a:moveTo>
                <a:lnTo>
                  <a:pt x="0" y="101600"/>
                </a:lnTo>
                <a:arcTo wR="101600" hR="101600" stAng="10800000" swAng="5400000"/>
                <a:lnTo>
                  <a:pt x="5029200" y="0"/>
                </a:lnTo>
                <a:arcTo wR="101600" hR="101600" stAng="16200000" swAng="5400000"/>
                <a:lnTo>
                  <a:pt x="5130800" y="101600"/>
                </a:lnTo>
                <a:arcTo wR="101600" hR="50800" stAng="0" swAng="-5400000"/>
                <a:lnTo>
                  <a:pt x="101600" y="50800"/>
                </a:lnTo>
                <a:arcTo wR="101600" hR="50800" stAng="16200000" swAng="-5400000"/>
                <a:close/>
              </a:path>
            </a:pathLst>
          </a:custGeom>
          <a:solidFill>
            <a:srgbClr val="0B7A75"/>
          </a:solidFill>
          <a:ln/>
        </p:spPr>
      </p:sp>
      <p:sp>
        <p:nvSpPr>
          <p:cNvPr id="12" name="Text 6"/>
          <p:cNvSpPr/>
          <p:nvPr/>
        </p:nvSpPr>
        <p:spPr>
          <a:xfrm>
            <a:off x="1066800" y="2716671"/>
            <a:ext cx="476148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Role: None</a:t>
            </a:r>
            <a:endParaRPr lang="en-US" sz="1900" dirty="0"/>
          </a:p>
        </p:txBody>
      </p:sp>
      <p:sp>
        <p:nvSpPr>
          <p:cNvPr id="13" name="Text 7"/>
          <p:cNvSpPr/>
          <p:nvPr/>
        </p:nvSpPr>
        <p:spPr>
          <a:xfrm>
            <a:off x="1066800" y="3107832"/>
            <a:ext cx="4761484"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4566A"/>
                </a:solidFill>
                <a:latin typeface="Inter" pitchFamily="34" charset="0"/>
                <a:ea typeface="Inter" pitchFamily="34" charset="-122"/>
                <a:cs typeface="Inter" pitchFamily="34" charset="-120"/>
              </a:rPr>
              <a:t>Transaction ID, Member Number and Date are excluded from the analysis.</a:t>
            </a:r>
            <a:endParaRPr lang="en-US" sz="1700" dirty="0"/>
          </a:p>
        </p:txBody>
      </p:sp>
      <p:sp>
        <p:nvSpPr>
          <p:cNvPr id="14" name="Shape 8"/>
          <p:cNvSpPr/>
          <p:nvPr/>
        </p:nvSpPr>
        <p:spPr>
          <a:xfrm>
            <a:off x="6248400" y="2413000"/>
            <a:ext cx="5130800" cy="1553351"/>
          </a:xfrm>
          <a:prstGeom prst="roundRect">
            <a:avLst>
              <a:gd name="adj" fmla="val 6541"/>
            </a:avLst>
          </a:prstGeom>
          <a:solidFill>
            <a:srgbClr val="1E4FA3"/>
          </a:solidFill>
          <a:ln/>
        </p:spPr>
      </p:sp>
      <p:sp>
        <p:nvSpPr>
          <p:cNvPr id="15" name="Shape 9"/>
          <p:cNvSpPr/>
          <p:nvPr/>
        </p:nvSpPr>
        <p:spPr>
          <a:xfrm>
            <a:off x="6248400" y="2413000"/>
            <a:ext cx="5130800" cy="1553351"/>
          </a:xfrm>
          <a:custGeom>
            <a:avLst/>
            <a:gdLst/>
            <a:ahLst/>
            <a:cxnLst/>
            <a:rect l="l" t="t" r="r" b="b"/>
            <a:pathLst>
              <a:path w="5130800" h="1553351">
                <a:moveTo>
                  <a:pt x="0" y="101600"/>
                </a:moveTo>
                <a:lnTo>
                  <a:pt x="0" y="101600"/>
                </a:lnTo>
                <a:arcTo wR="101600" hR="101600" stAng="10800000" swAng="5400000"/>
                <a:lnTo>
                  <a:pt x="5029200" y="0"/>
                </a:lnTo>
                <a:arcTo wR="101600" hR="101600" stAng="16200000" swAng="5400000"/>
                <a:lnTo>
                  <a:pt x="5130800" y="101600"/>
                </a:lnTo>
                <a:arcTo wR="101600" hR="50800" stAng="0" swAng="-5400000"/>
                <a:lnTo>
                  <a:pt x="101600" y="50800"/>
                </a:lnTo>
                <a:arcTo wR="101600" hR="50800" stAng="16200000" swAng="-5400000"/>
                <a:close/>
              </a:path>
            </a:pathLst>
          </a:custGeom>
          <a:solidFill>
            <a:srgbClr val="0B7A75"/>
          </a:solidFill>
          <a:ln/>
        </p:spPr>
      </p:sp>
      <p:sp>
        <p:nvSpPr>
          <p:cNvPr id="16" name="Text 10"/>
          <p:cNvSpPr/>
          <p:nvPr/>
        </p:nvSpPr>
        <p:spPr>
          <a:xfrm>
            <a:off x="6502400" y="2716671"/>
            <a:ext cx="476148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FFFFF"/>
                </a:solidFill>
                <a:latin typeface="Inter" pitchFamily="34" charset="0"/>
                <a:ea typeface="Inter" pitchFamily="34" charset="-122"/>
                <a:cs typeface="Inter" pitchFamily="34" charset="-120"/>
              </a:rPr>
              <a:t>Role: Both</a:t>
            </a:r>
            <a:endParaRPr lang="en-US" sz="1900" dirty="0"/>
          </a:p>
        </p:txBody>
      </p:sp>
      <p:sp>
        <p:nvSpPr>
          <p:cNvPr id="17" name="Text 11"/>
          <p:cNvSpPr/>
          <p:nvPr/>
        </p:nvSpPr>
        <p:spPr>
          <a:xfrm>
            <a:off x="6502400" y="3107832"/>
            <a:ext cx="4761484"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DBE7FB"/>
                </a:solidFill>
                <a:latin typeface="Inter" pitchFamily="34" charset="0"/>
                <a:ea typeface="Inter" pitchFamily="34" charset="-122"/>
                <a:cs typeface="Inter" pitchFamily="34" charset="-120"/>
              </a:rPr>
              <a:t>Item is the target for analysis, so its Role is set to Both.</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sndAc>
          <p:stSnd>
            <p:snd r:embed="rId3" name="laser.wav"/>
          </p:stSnd>
        </p:sndAc>
      </p:transition>
    </mc:Choice>
    <mc:Fallback>
      <p:transition spd="slow">
        <p:fade/>
        <p:sndAc>
          <p:stSnd>
            <p:snd r:embed="rId3" name="laser.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Beverages theme: bottle, cans, glass, coffee cup and juice carton"/>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0B7A75"/>
              </a:gs>
              <a:gs pos="100000">
                <a:srgbClr val="7FE0D6"/>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STEP 4 · CHOOSING THE ALGORITHM</a:t>
            </a:r>
            <a:endParaRPr lang="en-US" sz="1300" dirty="0"/>
          </a:p>
        </p:txBody>
      </p:sp>
      <p:sp>
        <p:nvSpPr>
          <p:cNvPr id="9" name="Text 3"/>
          <p:cNvSpPr>
            <a:spLocks noGrp="1"/>
          </p:cNvSpPr>
          <p:nvPr>
            <p:ph type="title"/>
          </p:nvPr>
        </p:nvSpPr>
        <p:spPr>
          <a:xfrm>
            <a:off x="812800" y="1145539"/>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Adding the Apriori Node</a:t>
            </a:r>
            <a:endParaRPr lang="en-US" sz="3200" dirty="0"/>
          </a:p>
        </p:txBody>
      </p:sp>
      <p:sp>
        <p:nvSpPr>
          <p:cNvPr id="10" name="Shape 4"/>
          <p:cNvSpPr/>
          <p:nvPr/>
        </p:nvSpPr>
        <p:spPr>
          <a:xfrm>
            <a:off x="812800" y="2413000"/>
            <a:ext cx="3352800" cy="1748931"/>
          </a:xfrm>
          <a:prstGeom prst="roundRect">
            <a:avLst>
              <a:gd name="adj" fmla="val 5809"/>
            </a:avLst>
          </a:prstGeom>
          <a:solidFill>
            <a:srgbClr val="FFFFFF"/>
          </a:solidFill>
          <a:ln/>
        </p:spPr>
      </p:sp>
      <p:sp>
        <p:nvSpPr>
          <p:cNvPr id="11" name="Shape 5"/>
          <p:cNvSpPr/>
          <p:nvPr/>
        </p:nvSpPr>
        <p:spPr>
          <a:xfrm>
            <a:off x="8128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2" name="Text 6"/>
          <p:cNvSpPr/>
          <p:nvPr/>
        </p:nvSpPr>
        <p:spPr>
          <a:xfrm>
            <a:off x="10668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Frequent itemsets</a:t>
            </a:r>
            <a:endParaRPr lang="en-US" sz="1900" dirty="0"/>
          </a:p>
        </p:txBody>
      </p:sp>
      <p:sp>
        <p:nvSpPr>
          <p:cNvPr id="13" name="Text 7"/>
          <p:cNvSpPr/>
          <p:nvPr/>
        </p:nvSpPr>
        <p:spPr>
          <a:xfrm>
            <a:off x="10668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Identifies items that frequently appear together across transactions.</a:t>
            </a:r>
            <a:endParaRPr lang="en-US" sz="1500" dirty="0"/>
          </a:p>
        </p:txBody>
      </p:sp>
      <p:sp>
        <p:nvSpPr>
          <p:cNvPr id="14" name="Shape 8"/>
          <p:cNvSpPr/>
          <p:nvPr/>
        </p:nvSpPr>
        <p:spPr>
          <a:xfrm>
            <a:off x="4419600" y="2413000"/>
            <a:ext cx="3352800" cy="1748931"/>
          </a:xfrm>
          <a:prstGeom prst="roundRect">
            <a:avLst>
              <a:gd name="adj" fmla="val 5809"/>
            </a:avLst>
          </a:prstGeom>
          <a:solidFill>
            <a:srgbClr val="FFFFFF"/>
          </a:solidFill>
          <a:ln/>
        </p:spPr>
      </p:sp>
      <p:sp>
        <p:nvSpPr>
          <p:cNvPr id="15" name="Shape 9"/>
          <p:cNvSpPr/>
          <p:nvPr/>
        </p:nvSpPr>
        <p:spPr>
          <a:xfrm>
            <a:off x="44196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6" name="Text 10"/>
          <p:cNvSpPr/>
          <p:nvPr/>
        </p:nvSpPr>
        <p:spPr>
          <a:xfrm>
            <a:off x="46736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Extend to rules</a:t>
            </a:r>
            <a:endParaRPr lang="en-US" sz="1900" dirty="0"/>
          </a:p>
        </p:txBody>
      </p:sp>
      <p:sp>
        <p:nvSpPr>
          <p:cNvPr id="17" name="Text 11"/>
          <p:cNvSpPr/>
          <p:nvPr/>
        </p:nvSpPr>
        <p:spPr>
          <a:xfrm>
            <a:off x="46736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Extends frequent itemsets into larger combinations and association rules.</a:t>
            </a:r>
            <a:endParaRPr lang="en-US" sz="1500" dirty="0"/>
          </a:p>
        </p:txBody>
      </p:sp>
      <p:sp>
        <p:nvSpPr>
          <p:cNvPr id="18" name="Shape 12"/>
          <p:cNvSpPr/>
          <p:nvPr/>
        </p:nvSpPr>
        <p:spPr>
          <a:xfrm>
            <a:off x="8026400" y="2413000"/>
            <a:ext cx="3352800" cy="1748931"/>
          </a:xfrm>
          <a:prstGeom prst="roundRect">
            <a:avLst>
              <a:gd name="adj" fmla="val 5809"/>
            </a:avLst>
          </a:prstGeom>
          <a:solidFill>
            <a:srgbClr val="FFFFFF"/>
          </a:solidFill>
          <a:ln/>
        </p:spPr>
      </p:sp>
      <p:sp>
        <p:nvSpPr>
          <p:cNvPr id="19" name="Shape 13"/>
          <p:cNvSpPr/>
          <p:nvPr/>
        </p:nvSpPr>
        <p:spPr>
          <a:xfrm>
            <a:off x="80264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20" name="Text 14"/>
          <p:cNvSpPr/>
          <p:nvPr/>
        </p:nvSpPr>
        <p:spPr>
          <a:xfrm>
            <a:off x="82804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Add to stream</a:t>
            </a:r>
            <a:endParaRPr lang="en-US" sz="1900" dirty="0"/>
          </a:p>
        </p:txBody>
      </p:sp>
      <p:sp>
        <p:nvSpPr>
          <p:cNvPr id="21" name="Text 15"/>
          <p:cNvSpPr/>
          <p:nvPr/>
        </p:nvSpPr>
        <p:spPr>
          <a:xfrm>
            <a:off x="82804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Open the Modeling palette and connect the Apriori node to the Type node.</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1250">
        <p14:switch dir="r"/>
        <p:sndAc>
          <p:stSnd>
            <p:snd r:embed="rId3" name="whoosh.wav"/>
          </p:stSnd>
        </p:sndAc>
      </p:transition>
    </mc:Choice>
    <mc:Fallback>
      <p:transition spd="slow">
        <p:fade/>
        <p:sndAc>
          <p:stSnd>
            <p:snd r:embed="rId3"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Snacks theme: cereal box, chips, cookies, chocolate and popcorn"/>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F6D55C"/>
              </a:gs>
              <a:gs pos="100000">
                <a:srgbClr val="E8A045"/>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STEP 5 · MODEL CONFIGURATION</a:t>
            </a:r>
            <a:endParaRPr lang="en-US" sz="1300" dirty="0"/>
          </a:p>
        </p:txBody>
      </p:sp>
      <p:sp>
        <p:nvSpPr>
          <p:cNvPr id="9" name="Text 3"/>
          <p:cNvSpPr>
            <a:spLocks noGrp="1"/>
          </p:cNvSpPr>
          <p:nvPr>
            <p:ph type="title"/>
          </p:nvPr>
        </p:nvSpPr>
        <p:spPr>
          <a:xfrm>
            <a:off x="812800" y="1145542"/>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Setting Transactional Format</a:t>
            </a:r>
            <a:endParaRPr lang="en-US" sz="3200" dirty="0"/>
          </a:p>
        </p:txBody>
      </p:sp>
      <p:sp>
        <p:nvSpPr>
          <p:cNvPr id="10" name="Shape 4"/>
          <p:cNvSpPr/>
          <p:nvPr/>
        </p:nvSpPr>
        <p:spPr>
          <a:xfrm>
            <a:off x="812800" y="2413000"/>
            <a:ext cx="3352800" cy="1748931"/>
          </a:xfrm>
          <a:prstGeom prst="roundRect">
            <a:avLst>
              <a:gd name="adj" fmla="val 5809"/>
            </a:avLst>
          </a:prstGeom>
          <a:solidFill>
            <a:srgbClr val="FFFFFF"/>
          </a:solidFill>
          <a:ln/>
        </p:spPr>
      </p:sp>
      <p:sp>
        <p:nvSpPr>
          <p:cNvPr id="11" name="Shape 5"/>
          <p:cNvSpPr/>
          <p:nvPr/>
        </p:nvSpPr>
        <p:spPr>
          <a:xfrm>
            <a:off x="8128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2" name="Text 6"/>
          <p:cNvSpPr/>
          <p:nvPr/>
        </p:nvSpPr>
        <p:spPr>
          <a:xfrm>
            <a:off x="10668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Custom assignments</a:t>
            </a:r>
            <a:endParaRPr lang="en-US" sz="1900" dirty="0"/>
          </a:p>
        </p:txBody>
      </p:sp>
      <p:sp>
        <p:nvSpPr>
          <p:cNvPr id="13" name="Text 7"/>
          <p:cNvSpPr/>
          <p:nvPr/>
        </p:nvSpPr>
        <p:spPr>
          <a:xfrm>
            <a:off x="10668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Open the Apriori node and select Use custom field assignments.</a:t>
            </a:r>
            <a:endParaRPr lang="en-US" sz="1500" dirty="0"/>
          </a:p>
        </p:txBody>
      </p:sp>
      <p:sp>
        <p:nvSpPr>
          <p:cNvPr id="14" name="Shape 8"/>
          <p:cNvSpPr/>
          <p:nvPr/>
        </p:nvSpPr>
        <p:spPr>
          <a:xfrm>
            <a:off x="4419600" y="2413000"/>
            <a:ext cx="3352800" cy="1482231"/>
          </a:xfrm>
          <a:prstGeom prst="roundRect">
            <a:avLst>
              <a:gd name="adj" fmla="val 6855"/>
            </a:avLst>
          </a:prstGeom>
          <a:solidFill>
            <a:srgbClr val="FFFFFF"/>
          </a:solidFill>
          <a:ln/>
        </p:spPr>
      </p:sp>
      <p:sp>
        <p:nvSpPr>
          <p:cNvPr id="15" name="Shape 9"/>
          <p:cNvSpPr/>
          <p:nvPr/>
        </p:nvSpPr>
        <p:spPr>
          <a:xfrm>
            <a:off x="4419600" y="2413000"/>
            <a:ext cx="3352800" cy="1482231"/>
          </a:xfrm>
          <a:custGeom>
            <a:avLst/>
            <a:gdLst/>
            <a:ahLst/>
            <a:cxnLst/>
            <a:rect l="l" t="t" r="r" b="b"/>
            <a:pathLst>
              <a:path w="3352800" h="14822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6" name="Text 10"/>
          <p:cNvSpPr/>
          <p:nvPr/>
        </p:nvSpPr>
        <p:spPr>
          <a:xfrm>
            <a:off x="46736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Transactional format</a:t>
            </a:r>
            <a:endParaRPr lang="en-US" sz="1900" dirty="0"/>
          </a:p>
        </p:txBody>
      </p:sp>
      <p:sp>
        <p:nvSpPr>
          <p:cNvPr id="17" name="Text 11"/>
          <p:cNvSpPr/>
          <p:nvPr/>
        </p:nvSpPr>
        <p:spPr>
          <a:xfrm>
            <a:off x="4673600" y="3107832"/>
            <a:ext cx="293014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Check the Use transactional format option.</a:t>
            </a:r>
            <a:endParaRPr lang="en-US" sz="1500" dirty="0"/>
          </a:p>
        </p:txBody>
      </p:sp>
      <p:sp>
        <p:nvSpPr>
          <p:cNvPr id="18" name="Shape 12"/>
          <p:cNvSpPr/>
          <p:nvPr/>
        </p:nvSpPr>
        <p:spPr>
          <a:xfrm>
            <a:off x="8026400" y="2413000"/>
            <a:ext cx="3352800" cy="1748931"/>
          </a:xfrm>
          <a:prstGeom prst="roundRect">
            <a:avLst>
              <a:gd name="adj" fmla="val 5809"/>
            </a:avLst>
          </a:prstGeom>
          <a:solidFill>
            <a:srgbClr val="FFFFFF"/>
          </a:solidFill>
          <a:ln/>
        </p:spPr>
      </p:sp>
      <p:sp>
        <p:nvSpPr>
          <p:cNvPr id="19" name="Shape 13"/>
          <p:cNvSpPr/>
          <p:nvPr/>
        </p:nvSpPr>
        <p:spPr>
          <a:xfrm>
            <a:off x="80264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20" name="Text 14"/>
          <p:cNvSpPr/>
          <p:nvPr/>
        </p:nvSpPr>
        <p:spPr>
          <a:xfrm>
            <a:off x="82804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Field mapping</a:t>
            </a:r>
            <a:endParaRPr lang="en-US" sz="1900" dirty="0"/>
          </a:p>
        </p:txBody>
      </p:sp>
      <p:sp>
        <p:nvSpPr>
          <p:cNvPr id="21" name="Text 15"/>
          <p:cNvSpPr/>
          <p:nvPr/>
        </p:nvSpPr>
        <p:spPr>
          <a:xfrm>
            <a:off x="8280400" y="3107832"/>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Set the ID field to Transaction_ID and the Content field to Item.</a:t>
            </a:r>
            <a:endParaRPr lang="en-US" sz="1500" dirty="0"/>
          </a:p>
        </p:txBody>
      </p:sp>
    </p:spTree>
  </p:cSld>
  <p:clrMapOvr>
    <a:masterClrMapping/>
  </p:clrMapOvr>
  <p:transition spd="slow">
    <p:comb/>
    <p:sndAc>
      <p:stSnd>
        <p:snd r:embed="rId3" name="push.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Checkout theme: shopping cart, barcode, receipt and price tag"/>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5B4FCF"/>
              </a:gs>
              <a:gs pos="100000">
                <a:srgbClr val="A5A0E8"/>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STEP 6 · PARAMETER TUNING &amp; EXECUTION</a:t>
            </a:r>
            <a:endParaRPr lang="en-US" sz="1300" dirty="0"/>
          </a:p>
        </p:txBody>
      </p:sp>
      <p:sp>
        <p:nvSpPr>
          <p:cNvPr id="9" name="Text 3"/>
          <p:cNvSpPr>
            <a:spLocks noGrp="1"/>
          </p:cNvSpPr>
          <p:nvPr>
            <p:ph type="title"/>
          </p:nvPr>
        </p:nvSpPr>
        <p:spPr>
          <a:xfrm>
            <a:off x="812800" y="1145542"/>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Tuning the Apriori Rules</a:t>
            </a:r>
            <a:endParaRPr lang="en-US" sz="3200" dirty="0"/>
          </a:p>
        </p:txBody>
      </p:sp>
      <p:sp>
        <p:nvSpPr>
          <p:cNvPr id="10" name="Shape 4"/>
          <p:cNvSpPr/>
          <p:nvPr/>
        </p:nvSpPr>
        <p:spPr>
          <a:xfrm>
            <a:off x="812800" y="2413000"/>
            <a:ext cx="3352800" cy="2348371"/>
          </a:xfrm>
          <a:prstGeom prst="roundRect">
            <a:avLst>
              <a:gd name="adj" fmla="val 4326"/>
            </a:avLst>
          </a:prstGeom>
          <a:solidFill>
            <a:srgbClr val="FFFFFF"/>
          </a:solidFill>
          <a:ln/>
        </p:spPr>
      </p:sp>
      <p:sp>
        <p:nvSpPr>
          <p:cNvPr id="11" name="Shape 5"/>
          <p:cNvSpPr/>
          <p:nvPr/>
        </p:nvSpPr>
        <p:spPr>
          <a:xfrm>
            <a:off x="812800" y="2413000"/>
            <a:ext cx="3352800" cy="2348371"/>
          </a:xfrm>
          <a:custGeom>
            <a:avLst/>
            <a:gdLst/>
            <a:ahLst/>
            <a:cxnLst/>
            <a:rect l="l" t="t" r="r" b="b"/>
            <a:pathLst>
              <a:path w="3352800" h="234837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2" name="Text 6"/>
          <p:cNvSpPr/>
          <p:nvPr/>
        </p:nvSpPr>
        <p:spPr>
          <a:xfrm>
            <a:off x="1066800" y="2716671"/>
            <a:ext cx="2930144"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E4FA3"/>
                </a:solidFill>
                <a:latin typeface="Inter" pitchFamily="34" charset="0"/>
                <a:ea typeface="Inter" pitchFamily="34" charset="-122"/>
                <a:cs typeface="Inter" pitchFamily="34" charset="-120"/>
              </a:rPr>
              <a:t>1.0% – 2.0%</a:t>
            </a:r>
            <a:endParaRPr lang="en-US" sz="2800" dirty="0"/>
          </a:p>
        </p:txBody>
      </p:sp>
      <p:sp>
        <p:nvSpPr>
          <p:cNvPr id="13" name="Text 7"/>
          <p:cNvSpPr/>
          <p:nvPr/>
        </p:nvSpPr>
        <p:spPr>
          <a:xfrm>
            <a:off x="1066800" y="3316114"/>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Minimum Support</a:t>
            </a:r>
            <a:endParaRPr lang="en-US" sz="1900" dirty="0"/>
          </a:p>
        </p:txBody>
      </p:sp>
      <p:sp>
        <p:nvSpPr>
          <p:cNvPr id="14" name="Text 8"/>
          <p:cNvSpPr/>
          <p:nvPr/>
        </p:nvSpPr>
        <p:spPr>
          <a:xfrm>
            <a:off x="1066800" y="3707271"/>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Keeps only item combinations that appear in enough transactions.</a:t>
            </a:r>
            <a:endParaRPr lang="en-US" sz="1500" dirty="0"/>
          </a:p>
        </p:txBody>
      </p:sp>
      <p:sp>
        <p:nvSpPr>
          <p:cNvPr id="15" name="Shape 9"/>
          <p:cNvSpPr/>
          <p:nvPr/>
        </p:nvSpPr>
        <p:spPr>
          <a:xfrm>
            <a:off x="4419600" y="2413000"/>
            <a:ext cx="3352800" cy="2081671"/>
          </a:xfrm>
          <a:prstGeom prst="roundRect">
            <a:avLst>
              <a:gd name="adj" fmla="val 4881"/>
            </a:avLst>
          </a:prstGeom>
          <a:solidFill>
            <a:srgbClr val="FFFFFF"/>
          </a:solidFill>
          <a:ln/>
        </p:spPr>
      </p:sp>
      <p:sp>
        <p:nvSpPr>
          <p:cNvPr id="16" name="Shape 10"/>
          <p:cNvSpPr/>
          <p:nvPr/>
        </p:nvSpPr>
        <p:spPr>
          <a:xfrm>
            <a:off x="4419600" y="2413000"/>
            <a:ext cx="3352800" cy="2081671"/>
          </a:xfrm>
          <a:custGeom>
            <a:avLst/>
            <a:gdLst/>
            <a:ahLst/>
            <a:cxnLst/>
            <a:rect l="l" t="t" r="r" b="b"/>
            <a:pathLst>
              <a:path w="3352800" h="208167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7" name="Text 11"/>
          <p:cNvSpPr/>
          <p:nvPr/>
        </p:nvSpPr>
        <p:spPr>
          <a:xfrm>
            <a:off x="4673600" y="2716671"/>
            <a:ext cx="2930144"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E4FA3"/>
                </a:solidFill>
                <a:latin typeface="Inter" pitchFamily="34" charset="0"/>
                <a:ea typeface="Inter" pitchFamily="34" charset="-122"/>
                <a:cs typeface="Inter" pitchFamily="34" charset="-120"/>
              </a:rPr>
              <a:t>10% – 15%</a:t>
            </a:r>
            <a:endParaRPr lang="en-US" sz="2800" dirty="0"/>
          </a:p>
        </p:txBody>
      </p:sp>
      <p:sp>
        <p:nvSpPr>
          <p:cNvPr id="18" name="Text 12"/>
          <p:cNvSpPr/>
          <p:nvPr/>
        </p:nvSpPr>
        <p:spPr>
          <a:xfrm>
            <a:off x="4673600" y="3316114"/>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Minimum Confidence</a:t>
            </a:r>
            <a:endParaRPr lang="en-US" sz="1900" dirty="0"/>
          </a:p>
        </p:txBody>
      </p:sp>
      <p:sp>
        <p:nvSpPr>
          <p:cNvPr id="19" name="Text 13"/>
          <p:cNvSpPr/>
          <p:nvPr/>
        </p:nvSpPr>
        <p:spPr>
          <a:xfrm>
            <a:off x="4673600" y="3707271"/>
            <a:ext cx="293014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Keeps only rules that hold true often enough to be useful.</a:t>
            </a:r>
            <a:endParaRPr lang="en-US" sz="1500" dirty="0"/>
          </a:p>
        </p:txBody>
      </p:sp>
      <p:sp>
        <p:nvSpPr>
          <p:cNvPr id="20" name="Shape 14"/>
          <p:cNvSpPr/>
          <p:nvPr/>
        </p:nvSpPr>
        <p:spPr>
          <a:xfrm>
            <a:off x="8026400" y="2413000"/>
            <a:ext cx="3352800" cy="2348371"/>
          </a:xfrm>
          <a:prstGeom prst="roundRect">
            <a:avLst>
              <a:gd name="adj" fmla="val 4326"/>
            </a:avLst>
          </a:prstGeom>
          <a:solidFill>
            <a:srgbClr val="FFFFFF"/>
          </a:solidFill>
          <a:ln/>
        </p:spPr>
      </p:sp>
      <p:sp>
        <p:nvSpPr>
          <p:cNvPr id="21" name="Shape 15"/>
          <p:cNvSpPr/>
          <p:nvPr/>
        </p:nvSpPr>
        <p:spPr>
          <a:xfrm>
            <a:off x="8026400" y="2413000"/>
            <a:ext cx="3352800" cy="2348371"/>
          </a:xfrm>
          <a:custGeom>
            <a:avLst/>
            <a:gdLst/>
            <a:ahLst/>
            <a:cxnLst/>
            <a:rect l="l" t="t" r="r" b="b"/>
            <a:pathLst>
              <a:path w="3352800" h="234837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22" name="Text 16"/>
          <p:cNvSpPr/>
          <p:nvPr/>
        </p:nvSpPr>
        <p:spPr>
          <a:xfrm>
            <a:off x="8280400" y="2716671"/>
            <a:ext cx="2930144"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E4FA3"/>
                </a:solidFill>
                <a:latin typeface="Inter" pitchFamily="34" charset="0"/>
                <a:ea typeface="Inter" pitchFamily="34" charset="-122"/>
                <a:cs typeface="Inter" pitchFamily="34" charset="-120"/>
              </a:rPr>
              <a:t>Run</a:t>
            </a:r>
            <a:endParaRPr lang="en-US" sz="2800" dirty="0"/>
          </a:p>
        </p:txBody>
      </p:sp>
      <p:sp>
        <p:nvSpPr>
          <p:cNvPr id="23" name="Text 17"/>
          <p:cNvSpPr/>
          <p:nvPr/>
        </p:nvSpPr>
        <p:spPr>
          <a:xfrm>
            <a:off x="8280400" y="3316114"/>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Run the node</a:t>
            </a:r>
            <a:endParaRPr lang="en-US" sz="1900" dirty="0"/>
          </a:p>
        </p:txBody>
      </p:sp>
      <p:sp>
        <p:nvSpPr>
          <p:cNvPr id="24" name="Text 18"/>
          <p:cNvSpPr/>
          <p:nvPr/>
        </p:nvSpPr>
        <p:spPr>
          <a:xfrm>
            <a:off x="8280400" y="3707271"/>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Run the node to generate the Model Nugget containing the rules.</a:t>
            </a:r>
            <a:endParaRPr lang="en-US" sz="15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sndAc>
          <p:stSnd>
            <p:snd r:embed="rId3" name="voltage.wav"/>
          </p:stSnd>
        </p:sndAc>
      </p:transition>
    </mc:Choice>
    <mc:Fallback>
      <p:transition spd="slow">
        <p:fade/>
        <p:sndAc>
          <p:stSnd>
            <p:snd r:embed="rId3" name="voltage.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0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B"/>
              </a:gs>
              <a:gs pos="55000">
                <a:srgbClr val="F4F7FB"/>
              </a:gs>
              <a:gs pos="100000">
                <a:srgbClr val="E1F3F0"/>
              </a:gs>
            </a:gsLst>
            <a:lin ang="2700000" scaled="0"/>
          </a:gradFill>
          <a:ln/>
        </p:spPr>
      </p:sp>
      <p:pic>
        <p:nvPicPr>
          <p:cNvPr id="3" name="Image 0" descr="Sweets theme: ice cream, cupcake, donut, candy, lollipop and chocolate"/>
          <p:cNvPicPr>
            <a:picLocks noChangeAspect="1"/>
          </p:cNvPicPr>
          <p:nvPr/>
        </p:nvPicPr>
        <p:blipFill>
          <a:blip r:embed="rId4"/>
          <a:srcRect/>
          <a:stretch/>
        </p:blipFill>
        <p:spPr>
          <a:xfrm>
            <a:off x="0" y="0"/>
            <a:ext cx="12192000" cy="6858000"/>
          </a:xfrm>
          <a:prstGeom prst="rect">
            <a:avLst/>
          </a:prstGeom>
        </p:spPr>
      </p:pic>
      <p:sp>
        <p:nvSpPr>
          <p:cNvPr id="4" name="Shape 1"/>
          <p:cNvSpPr/>
          <p:nvPr/>
        </p:nvSpPr>
        <p:spPr>
          <a:xfrm>
            <a:off x="0" y="0"/>
            <a:ext cx="12192000" cy="88900"/>
          </a:xfrm>
          <a:prstGeom prst="rect">
            <a:avLst/>
          </a:prstGeom>
          <a:gradFill rotWithShape="1">
            <a:gsLst>
              <a:gs pos="0">
                <a:srgbClr val="D6679A"/>
              </a:gs>
              <a:gs pos="100000">
                <a:srgbClr val="F4C9D6"/>
              </a:gs>
            </a:gsLst>
            <a:lin ang="0" scaled="0"/>
          </a:gradFill>
          <a:ln/>
        </p:spPr>
      </p:sp>
      <p:pic>
        <p:nvPicPr>
          <p:cNvPr id="5" name="Image 1" descr="ellipse"/>
          <p:cNvPicPr>
            <a:picLocks noChangeAspect="1"/>
          </p:cNvPicPr>
          <p:nvPr/>
        </p:nvPicPr>
        <p:blipFill>
          <a:blip r:embed="rId5"/>
          <a:srcRect/>
          <a:stretch/>
        </p:blipFill>
        <p:spPr>
          <a:xfrm>
            <a:off x="8763000" y="0"/>
            <a:ext cx="3429000" cy="3429000"/>
          </a:xfrm>
          <a:prstGeom prst="rect">
            <a:avLst/>
          </a:prstGeom>
        </p:spPr>
      </p:pic>
      <p:pic>
        <p:nvPicPr>
          <p:cNvPr id="6" name="Image 2" descr="ellipse"/>
          <p:cNvPicPr>
            <a:picLocks noChangeAspect="1"/>
          </p:cNvPicPr>
          <p:nvPr/>
        </p:nvPicPr>
        <p:blipFill>
          <a:blip r:embed="rId6"/>
          <a:srcRect/>
          <a:stretch/>
        </p:blipFill>
        <p:spPr>
          <a:xfrm>
            <a:off x="0" y="5207000"/>
            <a:ext cx="3556000" cy="1651000"/>
          </a:xfrm>
          <a:prstGeom prst="rect">
            <a:avLst/>
          </a:prstGeom>
        </p:spPr>
      </p:pic>
      <p:pic>
        <p:nvPicPr>
          <p:cNvPr id="7" name="Image 3" descr="ellipse"/>
          <p:cNvPicPr>
            <a:picLocks noChangeAspect="1"/>
          </p:cNvPicPr>
          <p:nvPr/>
        </p:nvPicPr>
        <p:blipFill>
          <a:blip r:embed="rId7"/>
          <a:srcRect/>
          <a:stretch/>
        </p:blipFill>
        <p:spPr>
          <a:xfrm>
            <a:off x="8255000" y="5461000"/>
            <a:ext cx="3937000" cy="1397000"/>
          </a:xfrm>
          <a:prstGeom prst="rect">
            <a:avLst/>
          </a:prstGeom>
        </p:spPr>
      </p:pic>
      <p:sp>
        <p:nvSpPr>
          <p:cNvPr id="8" name="Text 2"/>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Inter" pitchFamily="34" charset="0"/>
                <a:ea typeface="Inter" pitchFamily="34" charset="-122"/>
                <a:cs typeface="Inter" pitchFamily="34" charset="-120"/>
              </a:rPr>
              <a:t>OUTPUT ANALYSIS</a:t>
            </a:r>
            <a:endParaRPr lang="en-US" sz="1300" dirty="0"/>
          </a:p>
        </p:txBody>
      </p:sp>
      <p:sp>
        <p:nvSpPr>
          <p:cNvPr id="9" name="Text 3"/>
          <p:cNvSpPr>
            <a:spLocks noGrp="1"/>
          </p:cNvSpPr>
          <p:nvPr>
            <p:ph type="title"/>
          </p:nvPr>
        </p:nvSpPr>
        <p:spPr>
          <a:xfrm>
            <a:off x="812800" y="1145542"/>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740"/>
                </a:solidFill>
                <a:latin typeface="Inter" pitchFamily="34" charset="0"/>
                <a:ea typeface="Inter" pitchFamily="34" charset="-122"/>
                <a:cs typeface="Inter" pitchFamily="34" charset="-120"/>
              </a:rPr>
              <a:t>Interpreting the Business Metrics</a:t>
            </a:r>
            <a:endParaRPr lang="en-US" sz="3200" dirty="0"/>
          </a:p>
        </p:txBody>
      </p:sp>
      <p:sp>
        <p:nvSpPr>
          <p:cNvPr id="10" name="Shape 4"/>
          <p:cNvSpPr/>
          <p:nvPr/>
        </p:nvSpPr>
        <p:spPr>
          <a:xfrm>
            <a:off x="812800" y="2413000"/>
            <a:ext cx="3352800" cy="1748931"/>
          </a:xfrm>
          <a:prstGeom prst="roundRect">
            <a:avLst>
              <a:gd name="adj" fmla="val 5809"/>
            </a:avLst>
          </a:prstGeom>
          <a:solidFill>
            <a:srgbClr val="FFFFFF"/>
          </a:solidFill>
          <a:ln/>
        </p:spPr>
      </p:sp>
      <p:sp>
        <p:nvSpPr>
          <p:cNvPr id="11" name="Shape 5"/>
          <p:cNvSpPr/>
          <p:nvPr/>
        </p:nvSpPr>
        <p:spPr>
          <a:xfrm>
            <a:off x="8128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2" name="Text 6"/>
          <p:cNvSpPr/>
          <p:nvPr/>
        </p:nvSpPr>
        <p:spPr>
          <a:xfrm>
            <a:off x="10668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1. Support</a:t>
            </a:r>
            <a:endParaRPr lang="en-US" sz="1900" dirty="0"/>
          </a:p>
        </p:txBody>
      </p:sp>
      <p:sp>
        <p:nvSpPr>
          <p:cNvPr id="13" name="Text 7"/>
          <p:cNvSpPr/>
          <p:nvPr/>
        </p:nvSpPr>
        <p:spPr>
          <a:xfrm>
            <a:off x="1066800" y="3107835"/>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Percentage of total transactions containing both items.</a:t>
            </a:r>
            <a:endParaRPr lang="en-US" sz="1500" dirty="0"/>
          </a:p>
        </p:txBody>
      </p:sp>
      <p:sp>
        <p:nvSpPr>
          <p:cNvPr id="14" name="Shape 8"/>
          <p:cNvSpPr/>
          <p:nvPr/>
        </p:nvSpPr>
        <p:spPr>
          <a:xfrm>
            <a:off x="4419600" y="2413000"/>
            <a:ext cx="3352800" cy="1748931"/>
          </a:xfrm>
          <a:prstGeom prst="roundRect">
            <a:avLst>
              <a:gd name="adj" fmla="val 5809"/>
            </a:avLst>
          </a:prstGeom>
          <a:solidFill>
            <a:srgbClr val="FFFFFF"/>
          </a:solidFill>
          <a:ln/>
        </p:spPr>
      </p:sp>
      <p:sp>
        <p:nvSpPr>
          <p:cNvPr id="15" name="Shape 9"/>
          <p:cNvSpPr/>
          <p:nvPr/>
        </p:nvSpPr>
        <p:spPr>
          <a:xfrm>
            <a:off x="44196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16" name="Text 10"/>
          <p:cNvSpPr/>
          <p:nvPr/>
        </p:nvSpPr>
        <p:spPr>
          <a:xfrm>
            <a:off x="46736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2. Confidence</a:t>
            </a:r>
            <a:endParaRPr lang="en-US" sz="1900" dirty="0"/>
          </a:p>
        </p:txBody>
      </p:sp>
      <p:sp>
        <p:nvSpPr>
          <p:cNvPr id="17" name="Text 11"/>
          <p:cNvSpPr/>
          <p:nvPr/>
        </p:nvSpPr>
        <p:spPr>
          <a:xfrm>
            <a:off x="4673600" y="3107835"/>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Probability of purchasing the consequent item given the antecedent.</a:t>
            </a:r>
            <a:endParaRPr lang="en-US" sz="1500" dirty="0"/>
          </a:p>
        </p:txBody>
      </p:sp>
      <p:sp>
        <p:nvSpPr>
          <p:cNvPr id="18" name="Shape 12"/>
          <p:cNvSpPr/>
          <p:nvPr/>
        </p:nvSpPr>
        <p:spPr>
          <a:xfrm>
            <a:off x="8026400" y="2413000"/>
            <a:ext cx="3352800" cy="1748931"/>
          </a:xfrm>
          <a:prstGeom prst="roundRect">
            <a:avLst>
              <a:gd name="adj" fmla="val 5809"/>
            </a:avLst>
          </a:prstGeom>
          <a:solidFill>
            <a:srgbClr val="FFFFFF"/>
          </a:solidFill>
          <a:ln/>
        </p:spPr>
      </p:sp>
      <p:sp>
        <p:nvSpPr>
          <p:cNvPr id="19" name="Shape 13"/>
          <p:cNvSpPr/>
          <p:nvPr/>
        </p:nvSpPr>
        <p:spPr>
          <a:xfrm>
            <a:off x="8026400" y="2413000"/>
            <a:ext cx="3352800" cy="1748931"/>
          </a:xfrm>
          <a:custGeom>
            <a:avLst/>
            <a:gdLst/>
            <a:ahLst/>
            <a:cxnLst/>
            <a:rect l="l" t="t" r="r" b="b"/>
            <a:pathLst>
              <a:path w="3352800" h="1748931">
                <a:moveTo>
                  <a:pt x="0" y="101600"/>
                </a:moveTo>
                <a:lnTo>
                  <a:pt x="0" y="101600"/>
                </a:lnTo>
                <a:arcTo wR="101600" hR="101600" stAng="10800000" swAng="5400000"/>
                <a:lnTo>
                  <a:pt x="3251200" y="0"/>
                </a:lnTo>
                <a:arcTo wR="101600" hR="101600" stAng="16200000" swAng="5400000"/>
                <a:lnTo>
                  <a:pt x="3352800" y="101600"/>
                </a:lnTo>
                <a:arcTo wR="101600" hR="50800" stAng="0" swAng="-5400000"/>
                <a:lnTo>
                  <a:pt x="101600" y="50800"/>
                </a:lnTo>
                <a:arcTo wR="101600" hR="50800" stAng="16200000" swAng="-5400000"/>
                <a:close/>
              </a:path>
            </a:pathLst>
          </a:custGeom>
          <a:solidFill>
            <a:srgbClr val="0B7A75"/>
          </a:solidFill>
          <a:ln/>
        </p:spPr>
      </p:sp>
      <p:sp>
        <p:nvSpPr>
          <p:cNvPr id="20" name="Text 14"/>
          <p:cNvSpPr/>
          <p:nvPr/>
        </p:nvSpPr>
        <p:spPr>
          <a:xfrm>
            <a:off x="8280400" y="2716671"/>
            <a:ext cx="2930144"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2740"/>
                </a:solidFill>
                <a:latin typeface="Inter" pitchFamily="34" charset="0"/>
                <a:ea typeface="Inter" pitchFamily="34" charset="-122"/>
                <a:cs typeface="Inter" pitchFamily="34" charset="-120"/>
              </a:rPr>
              <a:t>3. Lift</a:t>
            </a:r>
            <a:endParaRPr lang="en-US" sz="1900" dirty="0"/>
          </a:p>
        </p:txBody>
      </p:sp>
      <p:sp>
        <p:nvSpPr>
          <p:cNvPr id="21" name="Text 15"/>
          <p:cNvSpPr/>
          <p:nvPr/>
        </p:nvSpPr>
        <p:spPr>
          <a:xfrm>
            <a:off x="8280400" y="3107835"/>
            <a:ext cx="293014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4566A"/>
                </a:solidFill>
                <a:latin typeface="Inter" pitchFamily="34" charset="0"/>
                <a:ea typeface="Inter" pitchFamily="34" charset="-122"/>
                <a:cs typeface="Inter" pitchFamily="34" charset="-120"/>
              </a:rPr>
              <a:t>Ratio of observed to expected support. Lift &gt; 1 implies a positive correlation.</a:t>
            </a:r>
            <a:endParaRPr lang="en-US" sz="15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sndAc>
          <p:stSnd>
            <p:snd r:embed="rId3" name="explode.wav"/>
          </p:stSnd>
        </p:sndAc>
      </p:transition>
    </mc:Choice>
    <mc:Fallback>
      <p:transition spd="slow">
        <p:fade/>
        <p:sndAc>
          <p:stSnd>
            <p:snd r:embed="rId3" name="explode.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8458-30E4-81C3-5E36-6E5682837B5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110300C-DD72-7FA3-782B-32D9974AFF1F}"/>
              </a:ext>
            </a:extLst>
          </p:cNvPr>
          <p:cNvSpPr>
            <a:spLocks noGrp="1"/>
          </p:cNvSpPr>
          <p:nvPr>
            <p:ph type="body" idx="101"/>
          </p:nvPr>
        </p:nvSpPr>
        <p:spPr/>
        <p:txBody>
          <a:bodyPr/>
          <a:lstStyle/>
          <a:p>
            <a:endParaRPr lang="en-US" dirty="0"/>
          </a:p>
        </p:txBody>
      </p:sp>
      <p:pic>
        <p:nvPicPr>
          <p:cNvPr id="4" name="gemini_generated_video_844193b5">
            <a:hlinkClick r:id="" action="ppaction://media"/>
            <a:extLst>
              <a:ext uri="{FF2B5EF4-FFF2-40B4-BE49-F238E27FC236}">
                <a16:creationId xmlns:a16="http://schemas.microsoft.com/office/drawing/2014/main" id="{C8AD0D77-B86F-6048-C4E3-2C3FB806A26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 y="0"/>
            <a:ext cx="12192000" cy="6858000"/>
          </a:xfrm>
          <a:prstGeom prst="rect">
            <a:avLst/>
          </a:prstGeom>
        </p:spPr>
      </p:pic>
      <p:sp>
        <p:nvSpPr>
          <p:cNvPr id="6" name="TextBox 5">
            <a:extLst>
              <a:ext uri="{FF2B5EF4-FFF2-40B4-BE49-F238E27FC236}">
                <a16:creationId xmlns:a16="http://schemas.microsoft.com/office/drawing/2014/main" id="{8D39BC2E-E5F9-40CC-33F5-B7F902E2ECB1}"/>
              </a:ext>
            </a:extLst>
          </p:cNvPr>
          <p:cNvSpPr txBox="1"/>
          <p:nvPr/>
        </p:nvSpPr>
        <p:spPr>
          <a:xfrm>
            <a:off x="3141783" y="45622"/>
            <a:ext cx="5908431" cy="1323439"/>
          </a:xfrm>
          <a:prstGeom prst="rect">
            <a:avLst/>
          </a:prstGeom>
          <a:noFill/>
        </p:spPr>
        <p:txBody>
          <a:bodyPr wrap="square" rtlCol="0">
            <a:spAutoFit/>
          </a:bodyPr>
          <a:lstStyle/>
          <a:p>
            <a:r>
              <a:rPr lang="en-US" sz="8000" b="1" dirty="0">
                <a:latin typeface="Inter" pitchFamily="34" charset="0"/>
                <a:ea typeface="Inter" pitchFamily="34" charset="-122"/>
                <a:cs typeface="Inter" pitchFamily="34" charset="-120"/>
              </a:rPr>
              <a:t>Thank You!</a:t>
            </a:r>
            <a:endParaRPr lang="en-US" sz="8000" dirty="0"/>
          </a:p>
        </p:txBody>
      </p:sp>
      <p:sp>
        <p:nvSpPr>
          <p:cNvPr id="7" name="TextBox 6">
            <a:extLst>
              <a:ext uri="{FF2B5EF4-FFF2-40B4-BE49-F238E27FC236}">
                <a16:creationId xmlns:a16="http://schemas.microsoft.com/office/drawing/2014/main" id="{C58C16CD-186A-D2EB-4059-629DFD8C65EB}"/>
              </a:ext>
            </a:extLst>
          </p:cNvPr>
          <p:cNvSpPr txBox="1"/>
          <p:nvPr/>
        </p:nvSpPr>
        <p:spPr>
          <a:xfrm>
            <a:off x="3737821" y="5959158"/>
            <a:ext cx="4716356" cy="984885"/>
          </a:xfrm>
          <a:prstGeom prst="rect">
            <a:avLst/>
          </a:prstGeom>
          <a:noFill/>
        </p:spPr>
        <p:txBody>
          <a:bodyPr wrap="none" rtlCol="0">
            <a:spAutoFit/>
          </a:bodyPr>
          <a:lstStyle/>
          <a:p>
            <a:r>
              <a:rPr lang="en-US" sz="4000" dirty="0">
                <a:latin typeface="Bahnschrift SemiBold" panose="020B0502040204020203" pitchFamily="34" charset="0"/>
                <a:ea typeface="Inter" pitchFamily="34" charset="-122"/>
                <a:cs typeface="Inter" pitchFamily="34" charset="-120"/>
              </a:rPr>
              <a:t>Open for Questions!</a:t>
            </a:r>
            <a:endParaRPr lang="en-US" sz="4000" dirty="0">
              <a:latin typeface="Bahnschrift SemiBold" panose="020B0502040204020203" pitchFamily="34" charset="0"/>
            </a:endParaRPr>
          </a:p>
          <a:p>
            <a:endParaRPr lang="en-US" dirty="0"/>
          </a:p>
        </p:txBody>
      </p:sp>
      <p:sp>
        <p:nvSpPr>
          <p:cNvPr id="14" name="Shape 0">
            <a:extLst>
              <a:ext uri="{FF2B5EF4-FFF2-40B4-BE49-F238E27FC236}">
                <a16:creationId xmlns:a16="http://schemas.microsoft.com/office/drawing/2014/main" id="{D3A03139-E382-FDA0-B247-3CDD1410BEA8}"/>
              </a:ext>
            </a:extLst>
          </p:cNvPr>
          <p:cNvSpPr/>
          <p:nvPr/>
        </p:nvSpPr>
        <p:spPr>
          <a:xfrm>
            <a:off x="391883" y="1220243"/>
            <a:ext cx="12192000" cy="6858000"/>
          </a:xfrm>
          <a:prstGeom prst="rect">
            <a:avLst/>
          </a:prstGeom>
          <a:noFill/>
          <a:ln/>
        </p:spPr>
      </p:sp>
    </p:spTree>
    <p:extLst>
      <p:ext uri="{BB962C8B-B14F-4D97-AF65-F5344CB8AC3E}">
        <p14:creationId xmlns:p14="http://schemas.microsoft.com/office/powerpoint/2010/main" val="18587556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750" advTm="1000">
        <p15:prstTrans prst="airplane"/>
        <p:sndAc>
          <p:stSnd>
            <p:snd r:embed="rId4" name="chimes.wav"/>
          </p:stSnd>
        </p:sndAc>
      </p:transition>
    </mc:Choice>
    <mc:Fallback>
      <p:transition spd="slow" advTm="1000">
        <p:fade/>
        <p:sndAc>
          <p:stSnd>
            <p:snd r:embed="rId4" name="chimes.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CartConnect: Market Basket Analysis">
  <a:themeElements>
    <a:clrScheme name="CartConnect: Market Basket Analysis">
      <a:dk1>
        <a:srgbClr val="141413"/>
      </a:dk1>
      <a:lt1>
        <a:srgbClr val="E8F0FB"/>
      </a:lt1>
      <a:dk2>
        <a:srgbClr val="494B4D"/>
      </a:dk2>
      <a:lt2>
        <a:srgbClr val="D3DAE4"/>
      </a:lt2>
      <a:accent1>
        <a:srgbClr val="0F2740"/>
      </a:accent1>
      <a:accent2>
        <a:srgbClr val="0B7A75"/>
      </a:accent2>
      <a:accent3>
        <a:srgbClr val="1E4FA3"/>
      </a:accent3>
      <a:accent4>
        <a:srgbClr val="5FD4C9"/>
      </a:accent4>
      <a:accent5>
        <a:srgbClr val="7FE0D6"/>
      </a:accent5>
      <a:accent6>
        <a:srgbClr val="0B6A66"/>
      </a:accent6>
      <a:hlink>
        <a:srgbClr val="0563C1"/>
      </a:hlink>
      <a:folHlink>
        <a:srgbClr val="954F72"/>
      </a:folHlink>
    </a:clrScheme>
    <a:fontScheme name="CartConnect: Market Basket Analysis">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461</Words>
  <Application>Microsoft Office PowerPoint</Application>
  <PresentationFormat>Widescreen</PresentationFormat>
  <Paragraphs>81</Paragraphs>
  <Slides>10</Slides>
  <Notes>9</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Inter</vt:lpstr>
      <vt:lpstr>Bahnschrift SemiBold</vt:lpstr>
      <vt:lpstr>CartConnect: Market Basket Analysis</vt:lpstr>
      <vt:lpstr>CartConnect: Market Basket Analysis</vt:lpstr>
      <vt:lpstr>Objectives &amp; Dataset</vt:lpstr>
      <vt:lpstr>Setting up the Source Node</vt:lpstr>
      <vt:lpstr>Connecting the Type Node</vt:lpstr>
      <vt:lpstr>Filtering &amp; Targeting Fields</vt:lpstr>
      <vt:lpstr>Adding the Apriori Node</vt:lpstr>
      <vt:lpstr>Setting Transactional Format</vt:lpstr>
      <vt:lpstr>Tuning the Apriori Rules</vt:lpstr>
      <vt:lpstr>Interpreting the Business Metrics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CartConnect: Market Basket Analysis</dc:title>
  <dc:subject/>
  <dc:creator>ABHISHEK DWIVEDI</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dc:description>
  <cp:lastModifiedBy>Abhishek Dwivedi</cp:lastModifiedBy>
  <cp:revision>2</cp:revision>
  <dcterms:created xsi:type="dcterms:W3CDTF">2026-10-28T05:53:11Z</dcterms:created>
  <dcterms:modified xsi:type="dcterms:W3CDTF">2026-10-28T07:11:57Z</dcterms:modified>
</cp:coreProperties>
</file>